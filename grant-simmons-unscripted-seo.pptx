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F2D78">
              <a:alpha val="40000"/>
            </a:srgbClr>
          </a:solidFill>
          <a:ln w="12700">
            <a:solidFill>
              <a:srgbClr val="FF2D7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2860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UNSCRIPTED SEO PODCAST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Simmons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B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SEO, LLMs &amp;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FFB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Search Visibility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Fiat Growth  ·  @simmonet  ·  linkedin.com/in/simmonet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Grant Simmons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marketer since the 1980s — SEO practitioner since the mid-1990s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pre-YouTube video sharing website and learned to rank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years at Homes.com: VP of Search → VP of Performance Marketing (CoStar acquisition)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recovery from a 60% organic traffic loss caused by Google Panda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of Query Drift &amp; AppSlicer — Google Search Console analysis tools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Ambassador for Waikay (LLM visibility tracking) and Inlinks (entity SEO)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Head of SEO &amp; GEO at Fiat Growth (FinTech agency, San Francisco)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SEO — Grant's Core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 per page — tight topical focus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pages to known graph sources (Wikipedia, schema catalogs)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query drift — outlier topics that deserve their own page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Disambiguation entities support the main entity within a page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Google &amp; LLMs like small children: explain who you are, unambiguously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27432" cy="3749040"/>
          </a:xfrm>
          <a:prstGeom prst="rect">
            <a:avLst/>
          </a:prstGeom>
          <a:solidFill>
            <a:srgbClr val="7A7090"/>
          </a:solidFill>
          <a:ln w="12700">
            <a:solidFill>
              <a:srgbClr val="7A7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querydrift.com — entity-level page analysis against GSC data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EntityMap.org — emerging spec for a 'meaning layer' on key pages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waikay.io — track &amp; improve LLM search visibility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inlinks.com — entity SEO optimization platform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appslicer.com — GSC query data tools &amp; AI Overview impact estimator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Markup — Still Worth Doing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34640" cy="3566160"/>
          </a:xfrm>
          <a:prstGeom prst="rect">
            <a:avLst/>
          </a:prstGeom>
          <a:solidFill>
            <a:srgbClr val="160C08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834640" cy="6400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Rich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Unambiguously good for rich results — broad consensus across the SEO community.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834640" cy="3566160"/>
          </a:xfrm>
          <a:prstGeom prst="rect">
            <a:avLst/>
          </a:prstGeom>
          <a:solidFill>
            <a:srgbClr val="160C08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834640" cy="64008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Ontology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uses schema for ontology categorization. Grounded LLMs inherit that categorization.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834640" cy="3566160"/>
          </a:xfrm>
          <a:prstGeom prst="rect">
            <a:avLst/>
          </a:prstGeom>
          <a:solidFill>
            <a:srgbClr val="160C08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0120"/>
            <a:ext cx="28346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LLMs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 LLMs is largely a wrapper for Google results today. What helps Google helps the LLM layer. Low lift — why not?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FAQ Schema has gone away, does that mean you shouldn't use it? I would still — it's a very low lift."  — Grant Simmons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 Culture &amp; Google's Opacity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Google Won't Say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engagement signals (~30% of ranking per antitrust docs) denied for a decade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to satisfaction: consistent dwell + navigation paths Google can see via Chrome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doesn't fully know its own algorithm — outcomes beat listening to spokespeople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validate for 15+ years beats any official statement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27432" cy="3749040"/>
          </a:xfrm>
          <a:prstGeom prst="rect">
            <a:avLst/>
          </a:prstGeom>
          <a:solidFill>
            <a:srgbClr val="7A7090"/>
          </a:solidFill>
          <a:ln w="12700">
            <a:solidFill>
              <a:srgbClr val="7A7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Beta Testing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new LLM SEO tools are shite — creators know it, shipping for feedback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SEOs accept subpar LLM answers rather than working for right 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beta testing the beta testers" — Grant Simmons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outsource uncertainty: treat LLM output as the answer given, not the answer wanted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Reporting Gap &amp; Grant's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160C0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Drift  ·  querydrift.com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Entity-level page analysis vs. GSC data — detects topical sprawl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737360"/>
            <a:ext cx="8686800" cy="658368"/>
          </a:xfrm>
          <a:prstGeom prst="rect">
            <a:avLst/>
          </a:prstGeom>
          <a:solidFill>
            <a:srgbClr val="160C08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737360"/>
            <a:ext cx="45720" cy="658368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830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AppSlicer  ·  appslicer.com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Overview impact estimator — YoY CTR, position &amp; query count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514600"/>
            <a:ext cx="8686800" cy="658368"/>
          </a:xfrm>
          <a:prstGeom prst="rect">
            <a:avLst/>
          </a:prstGeom>
          <a:solidFill>
            <a:srgbClr val="160C08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" y="2514600"/>
            <a:ext cx="45720" cy="65836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60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Attribution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tool: 'these updates make these changes' — clarifying SEO value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291840"/>
            <a:ext cx="8686800" cy="658368"/>
          </a:xfrm>
          <a:prstGeom prst="rect">
            <a:avLst/>
          </a:prstGeom>
          <a:solidFill>
            <a:srgbClr val="160C08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3291840"/>
            <a:ext cx="45720" cy="658368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375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OrganicRI  ·  organicri.com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pixel + log file analysis to replace not-provided guesswork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4069080"/>
            <a:ext cx="8686800" cy="658368"/>
          </a:xfrm>
          <a:prstGeom prst="rect">
            <a:avLst/>
          </a:prstGeom>
          <a:solidFill>
            <a:srgbClr val="160C08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4069080"/>
            <a:ext cx="45720" cy="65836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148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"Degapinator"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389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Jeremy's concept: triangulate Ahrefs + GA4 + GSC to map likely query clicks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960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2D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is great SEO. Fill the gaps — explain who you are, unambiguously, on your own site first.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2D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SEO: one entity per page, connected to known graph sources, with query drift analysis.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3611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2D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still worth doing at mid-surface depth — it grounds Google's ontology categorization.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960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2D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4960" y="960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validate. We will learn more by seeing outcomes than by listening to Google.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2D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optimization needs additional budget for citable source link-building — not the same $2k/mo.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611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2D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36118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the biggest unresolved agency problem. Insights ≠ KPI-connected narratives.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F2D78">
              <a:alpha val="40000"/>
            </a:srgbClr>
          </a:solidFill>
          <a:ln w="12700">
            <a:solidFill>
              <a:srgbClr val="FF2D7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Find Grant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74320" y="2606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508760" y="2606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linkedin.com/in/simmonet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30815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08760" y="30815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@simmonet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3557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08760" y="35570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appslicer.com · querydrift.com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40325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JOB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508760" y="40325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fiatgrowth.com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" y="45079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508760" y="45079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waikay.io · inlinks.com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548640"/>
            <a:ext cx="4160520" cy="4114800"/>
          </a:xfrm>
          <a:prstGeom prst="rect">
            <a:avLst/>
          </a:prstGeom>
          <a:solidFill>
            <a:srgbClr val="160C08"/>
          </a:solidFill>
          <a:ln/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548640"/>
            <a:ext cx="4160520" cy="64008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685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NOW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00600" y="1051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Simmons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Entity SEO, LLMs &amp;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5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Visibility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800600" y="2514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Unscripted SEO Podcast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unscriptedseo.com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00600" y="32004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2D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algn="l" indent="0" marL="0">
              <a:buNone/>
            </a:pPr>
            <a:r>
              <a:rPr lang="en-US" sz="1200" i="1" dirty="0">
                <a:solidFill>
                  <a:srgbClr val="E0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has been very good to me. If one person gets one good thing out of this interview today, it’s all about giving back.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Grant Simmons — Entity SEO, LLMs &amp; Search Visibility</dc:title>
  <dc:subject>PptxGenJS Presentation</dc:subject>
  <dc:creator>Unscripted SEO Podcast</dc:creator>
  <cp:lastModifiedBy>Unscripted SEO Podcast</cp:lastModifiedBy>
  <cp:revision>1</cp:revision>
  <dcterms:created xsi:type="dcterms:W3CDTF">2026-06-01T20:45:06Z</dcterms:created>
  <dcterms:modified xsi:type="dcterms:W3CDTF">2026-06-01T20:45:06Z</dcterms:modified>
</cp:coreProperties>
</file>